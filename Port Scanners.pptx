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5" r:id="rId9"/>
    <p:sldId id="266" r:id="rId10"/>
    <p:sldId id="268" r:id="rId11"/>
    <p:sldId id="267" r:id="rId12"/>
    <p:sldId id="269" r:id="rId13"/>
  </p:sldIdLst>
  <p:sldSz cx="18288000" cy="10287000"/>
  <p:notesSz cx="6858000" cy="9144000"/>
  <p:embeddedFontLst>
    <p:embeddedFont>
      <p:font typeface="DM Sans" panose="020B0604020202020204" charset="0"/>
      <p:regular r:id="rId14"/>
    </p:embeddedFont>
    <p:embeddedFont>
      <p:font typeface="Calibri" panose="020F0502020204030204" pitchFamily="34" charset="0"/>
      <p:regular r:id="rId15"/>
      <p:bold r:id="rId16"/>
      <p:italic r:id="rId17"/>
      <p:boldItalic r:id="rId18"/>
    </p:embeddedFont>
    <p:embeddedFont>
      <p:font typeface="Georgia Pro Light" panose="020B0604020202020204" charset="0"/>
      <p:regular r:id="rId19"/>
    </p:embeddedFont>
    <p:embeddedFont>
      <p:font typeface="DM Sans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72"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8991600" cy="10287000"/>
            <a:chOff x="0" y="0"/>
            <a:chExt cx="1035548" cy="1184737"/>
          </a:xfrm>
        </p:grpSpPr>
        <p:sp>
          <p:nvSpPr>
            <p:cNvPr id="3" name="Freeform 3"/>
            <p:cNvSpPr/>
            <p:nvPr/>
          </p:nvSpPr>
          <p:spPr>
            <a:xfrm>
              <a:off x="0" y="0"/>
              <a:ext cx="1035548" cy="1184737"/>
            </a:xfrm>
            <a:custGeom>
              <a:avLst/>
              <a:gdLst/>
              <a:ahLst/>
              <a:cxnLst/>
              <a:rect l="l" t="t" r="r" b="b"/>
              <a:pathLst>
                <a:path w="1035548" h="1184737">
                  <a:moveTo>
                    <a:pt x="0" y="0"/>
                  </a:moveTo>
                  <a:lnTo>
                    <a:pt x="1035548" y="0"/>
                  </a:lnTo>
                  <a:lnTo>
                    <a:pt x="1035548" y="1184737"/>
                  </a:lnTo>
                  <a:lnTo>
                    <a:pt x="0" y="1184737"/>
                  </a:lnTo>
                  <a:close/>
                </a:path>
              </a:pathLst>
            </a:custGeom>
            <a:blipFill>
              <a:blip r:embed="rId2"/>
              <a:stretch>
                <a:fillRect t="-378" b="-378"/>
              </a:stretch>
            </a:blipFill>
          </p:spPr>
        </p:sp>
      </p:grpSp>
      <p:grpSp>
        <p:nvGrpSpPr>
          <p:cNvPr id="4" name="Group 4"/>
          <p:cNvGrpSpPr/>
          <p:nvPr/>
        </p:nvGrpSpPr>
        <p:grpSpPr>
          <a:xfrm>
            <a:off x="10744200" y="666750"/>
            <a:ext cx="6877050" cy="585084"/>
            <a:chOff x="0" y="0"/>
            <a:chExt cx="9169400" cy="780112"/>
          </a:xfrm>
        </p:grpSpPr>
        <p:sp>
          <p:nvSpPr>
            <p:cNvPr id="5" name="Freeform 5"/>
            <p:cNvSpPr/>
            <p:nvPr/>
          </p:nvSpPr>
          <p:spPr>
            <a:xfrm rot="-5400000" flipH="1">
              <a:off x="36553" y="74861"/>
              <a:ext cx="555143" cy="628248"/>
            </a:xfrm>
            <a:custGeom>
              <a:avLst/>
              <a:gdLst/>
              <a:ahLst/>
              <a:cxnLst/>
              <a:rect l="l" t="t" r="r" b="b"/>
              <a:pathLst>
                <a:path w="555143" h="628248">
                  <a:moveTo>
                    <a:pt x="555143" y="0"/>
                  </a:moveTo>
                  <a:lnTo>
                    <a:pt x="0" y="0"/>
                  </a:lnTo>
                  <a:lnTo>
                    <a:pt x="0" y="628248"/>
                  </a:lnTo>
                  <a:lnTo>
                    <a:pt x="555143" y="628248"/>
                  </a:lnTo>
                  <a:lnTo>
                    <a:pt x="555143"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TextBox 6"/>
            <p:cNvSpPr txBox="1"/>
            <p:nvPr/>
          </p:nvSpPr>
          <p:spPr>
            <a:xfrm>
              <a:off x="795304" y="95250"/>
              <a:ext cx="8374096" cy="684862"/>
            </a:xfrm>
            <a:prstGeom prst="rect">
              <a:avLst/>
            </a:prstGeom>
          </p:spPr>
          <p:txBody>
            <a:bodyPr lIns="0" tIns="0" rIns="0" bIns="0" rtlCol="0" anchor="t">
              <a:spAutoFit/>
            </a:bodyPr>
            <a:lstStyle/>
            <a:p>
              <a:pPr marL="0" lvl="0" indent="0" algn="l">
                <a:lnSpc>
                  <a:spcPts val="3555"/>
                </a:lnSpc>
              </a:pPr>
              <a:r>
                <a:rPr lang="en-US" sz="3864" spc="-77">
                  <a:solidFill>
                    <a:srgbClr val="FFFFFF"/>
                  </a:solidFill>
                  <a:latin typeface="Georgia Pro Light"/>
                  <a:ea typeface="Georgia Pro Light"/>
                  <a:cs typeface="Georgia Pro Light"/>
                  <a:sym typeface="Georgia Pro Light"/>
                </a:rPr>
                <a:t>CyberSecure</a:t>
              </a:r>
            </a:p>
          </p:txBody>
        </p:sp>
      </p:grpSp>
      <p:grpSp>
        <p:nvGrpSpPr>
          <p:cNvPr id="7" name="Group 7"/>
          <p:cNvGrpSpPr/>
          <p:nvPr/>
        </p:nvGrpSpPr>
        <p:grpSpPr>
          <a:xfrm>
            <a:off x="10734675" y="1562100"/>
            <a:ext cx="6886575" cy="4337753"/>
            <a:chOff x="0" y="0"/>
            <a:chExt cx="9182100" cy="5783670"/>
          </a:xfrm>
        </p:grpSpPr>
        <p:sp>
          <p:nvSpPr>
            <p:cNvPr id="8" name="TextBox 8"/>
            <p:cNvSpPr txBox="1"/>
            <p:nvPr/>
          </p:nvSpPr>
          <p:spPr>
            <a:xfrm>
              <a:off x="0" y="200025"/>
              <a:ext cx="9182100" cy="3686167"/>
            </a:xfrm>
            <a:prstGeom prst="rect">
              <a:avLst/>
            </a:prstGeom>
          </p:spPr>
          <p:txBody>
            <a:bodyPr lIns="0" tIns="0" rIns="0" bIns="0" rtlCol="0" anchor="t">
              <a:spAutoFit/>
            </a:bodyPr>
            <a:lstStyle/>
            <a:p>
              <a:pPr marL="0" lvl="0" indent="0" algn="l">
                <a:lnSpc>
                  <a:spcPts val="10499"/>
                </a:lnSpc>
              </a:pPr>
              <a:r>
                <a:rPr lang="en-US" sz="10499">
                  <a:solidFill>
                    <a:srgbClr val="FFFFFF"/>
                  </a:solidFill>
                  <a:latin typeface="Georgia Pro Light"/>
                  <a:ea typeface="Georgia Pro Light"/>
                  <a:cs typeface="Georgia Pro Light"/>
                  <a:sym typeface="Georgia Pro Light"/>
                </a:rPr>
                <a:t>Port Scanners</a:t>
              </a:r>
            </a:p>
          </p:txBody>
        </p:sp>
        <p:sp>
          <p:nvSpPr>
            <p:cNvPr id="9" name="TextBox 9"/>
            <p:cNvSpPr txBox="1"/>
            <p:nvPr/>
          </p:nvSpPr>
          <p:spPr>
            <a:xfrm>
              <a:off x="0" y="4137115"/>
              <a:ext cx="9172670" cy="1646555"/>
            </a:xfrm>
            <a:prstGeom prst="rect">
              <a:avLst/>
            </a:prstGeom>
          </p:spPr>
          <p:txBody>
            <a:bodyPr lIns="0" tIns="0" rIns="0" bIns="0" rtlCol="0" anchor="t">
              <a:spAutoFit/>
            </a:bodyPr>
            <a:lstStyle/>
            <a:p>
              <a:pPr marL="0" lvl="0" indent="0" algn="l">
                <a:lnSpc>
                  <a:spcPts val="5039"/>
                </a:lnSpc>
              </a:pPr>
              <a:r>
                <a:rPr lang="en-US" sz="3599">
                  <a:solidFill>
                    <a:srgbClr val="FFFFFF"/>
                  </a:solidFill>
                  <a:latin typeface="DM Sans"/>
                  <a:ea typeface="DM Sans"/>
                  <a:cs typeface="DM Sans"/>
                  <a:sym typeface="DM Sans"/>
                </a:rPr>
                <a:t>Understanding Network Security Essentials</a:t>
              </a:r>
            </a:p>
          </p:txBody>
        </p:sp>
      </p:grpSp>
      <p:grpSp>
        <p:nvGrpSpPr>
          <p:cNvPr id="10" name="Group 10"/>
          <p:cNvGrpSpPr/>
          <p:nvPr/>
        </p:nvGrpSpPr>
        <p:grpSpPr>
          <a:xfrm>
            <a:off x="10744200" y="8705184"/>
            <a:ext cx="5743575" cy="1349316"/>
            <a:chOff x="0" y="-47625"/>
            <a:chExt cx="7658100" cy="1799085"/>
          </a:xfrm>
        </p:grpSpPr>
        <p:sp>
          <p:nvSpPr>
            <p:cNvPr id="11" name="TextBox 11"/>
            <p:cNvSpPr txBox="1"/>
            <p:nvPr/>
          </p:nvSpPr>
          <p:spPr>
            <a:xfrm>
              <a:off x="0" y="691343"/>
              <a:ext cx="7658100" cy="1060117"/>
            </a:xfrm>
            <a:prstGeom prst="rect">
              <a:avLst/>
            </a:prstGeom>
          </p:spPr>
          <p:txBody>
            <a:bodyPr lIns="0" tIns="0" rIns="0" bIns="0" rtlCol="0" anchor="t">
              <a:spAutoFit/>
            </a:bodyPr>
            <a:lstStyle/>
            <a:p>
              <a:pPr algn="l">
                <a:lnSpc>
                  <a:spcPts val="3080"/>
                </a:lnSpc>
              </a:pPr>
              <a:r>
                <a:rPr lang="en-US" sz="2200" dirty="0" smtClean="0">
                  <a:solidFill>
                    <a:srgbClr val="FFFFFF"/>
                  </a:solidFill>
                  <a:latin typeface="DM Sans"/>
                  <a:ea typeface="DM Sans"/>
                  <a:cs typeface="DM Sans"/>
                  <a:sym typeface="DM Sans"/>
                </a:rPr>
                <a:t>SAHAAB FATIMA</a:t>
              </a:r>
            </a:p>
            <a:p>
              <a:pPr algn="l">
                <a:lnSpc>
                  <a:spcPts val="3080"/>
                </a:lnSpc>
              </a:pPr>
              <a:r>
                <a:rPr lang="en-US" sz="2200" dirty="0" smtClean="0">
                  <a:solidFill>
                    <a:srgbClr val="FFFFFF"/>
                  </a:solidFill>
                  <a:latin typeface="DM Sans"/>
                  <a:ea typeface="DM Sans"/>
                  <a:cs typeface="DM Sans"/>
                  <a:sym typeface="DM Sans"/>
                </a:rPr>
                <a:t>ALIZA AYUB</a:t>
              </a:r>
              <a:endParaRPr lang="en-US" sz="2200" dirty="0">
                <a:solidFill>
                  <a:srgbClr val="FFFFFF"/>
                </a:solidFill>
                <a:latin typeface="DM Sans"/>
                <a:ea typeface="DM Sans"/>
                <a:cs typeface="DM Sans"/>
                <a:sym typeface="DM Sans"/>
              </a:endParaRPr>
            </a:p>
          </p:txBody>
        </p:sp>
        <p:sp>
          <p:nvSpPr>
            <p:cNvPr id="12" name="TextBox 12"/>
            <p:cNvSpPr txBox="1"/>
            <p:nvPr/>
          </p:nvSpPr>
          <p:spPr>
            <a:xfrm>
              <a:off x="0" y="-47625"/>
              <a:ext cx="7658100" cy="569172"/>
            </a:xfrm>
            <a:prstGeom prst="rect">
              <a:avLst/>
            </a:prstGeom>
          </p:spPr>
          <p:txBody>
            <a:bodyPr lIns="0" tIns="0" rIns="0" bIns="0" rtlCol="0" anchor="t">
              <a:spAutoFit/>
            </a:bodyPr>
            <a:lstStyle/>
            <a:p>
              <a:pPr marL="0" lvl="0" indent="0" algn="l">
                <a:lnSpc>
                  <a:spcPts val="3640"/>
                </a:lnSpc>
                <a:spcBef>
                  <a:spcPct val="0"/>
                </a:spcBef>
              </a:pPr>
              <a:r>
                <a:rPr lang="en-US" sz="2600" b="1" dirty="0">
                  <a:solidFill>
                    <a:srgbClr val="FFFFFF"/>
                  </a:solidFill>
                  <a:latin typeface="DM Sans Bold"/>
                  <a:ea typeface="DM Sans Bold"/>
                  <a:cs typeface="DM Sans Bold"/>
                  <a:sym typeface="DM Sans Bold"/>
                </a:rPr>
                <a:t>PRESENTED BY</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8324850" cy="3747081"/>
            <a:chOff x="0" y="0"/>
            <a:chExt cx="11099800" cy="4996108"/>
          </a:xfrm>
        </p:grpSpPr>
        <p:sp>
          <p:nvSpPr>
            <p:cNvPr id="5" name="TextBox 5"/>
            <p:cNvSpPr txBox="1"/>
            <p:nvPr/>
          </p:nvSpPr>
          <p:spPr>
            <a:xfrm>
              <a:off x="0" y="66675"/>
              <a:ext cx="11099800" cy="3040596"/>
            </a:xfrm>
            <a:prstGeom prst="rect">
              <a:avLst/>
            </a:prstGeom>
          </p:spPr>
          <p:txBody>
            <a:bodyPr lIns="0" tIns="0" rIns="0" bIns="0" rtlCol="0" anchor="t">
              <a:spAutoFit/>
            </a:bodyPr>
            <a:lstStyle/>
            <a:p>
              <a:pPr marL="0" lvl="0" indent="0" algn="l">
                <a:lnSpc>
                  <a:spcPts val="8800"/>
                </a:lnSpc>
              </a:pPr>
              <a:r>
                <a:rPr lang="en-US" sz="8000">
                  <a:solidFill>
                    <a:srgbClr val="FFFFFF"/>
                  </a:solidFill>
                  <a:latin typeface="Georgia Pro Light"/>
                  <a:ea typeface="Georgia Pro Light"/>
                  <a:cs typeface="Georgia Pro Light"/>
                  <a:sym typeface="Georgia Pro Light"/>
                </a:rPr>
                <a:t>Introduction to Port Scanners</a:t>
              </a:r>
            </a:p>
          </p:txBody>
        </p:sp>
        <p:sp>
          <p:nvSpPr>
            <p:cNvPr id="6" name="TextBox 6"/>
            <p:cNvSpPr txBox="1"/>
            <p:nvPr/>
          </p:nvSpPr>
          <p:spPr>
            <a:xfrm>
              <a:off x="0" y="3533703"/>
              <a:ext cx="11099800" cy="14624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Port scanners are essential tools in cybersecurity, utilized to probe systems for open ports, identify services running, and detect potential vulnerabilities in networks.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6750" y="733425"/>
            <a:ext cx="5753100" cy="2263778"/>
          </a:xfrm>
          <a:prstGeom prst="rect">
            <a:avLst/>
          </a:prstGeom>
        </p:spPr>
        <p:txBody>
          <a:bodyPr lIns="0" tIns="0" rIns="0" bIns="0" rtlCol="0" anchor="t">
            <a:spAutoFit/>
          </a:bodyPr>
          <a:lstStyle/>
          <a:p>
            <a:pPr marL="0" lvl="0" indent="0" algn="l">
              <a:lnSpc>
                <a:spcPts val="8800"/>
              </a:lnSpc>
              <a:spcBef>
                <a:spcPct val="0"/>
              </a:spcBef>
            </a:pPr>
            <a:r>
              <a:rPr lang="en-US" sz="8000">
                <a:solidFill>
                  <a:srgbClr val="FFFFFF"/>
                </a:solidFill>
                <a:latin typeface="Georgia Pro Light"/>
                <a:ea typeface="Georgia Pro Light"/>
                <a:cs typeface="Georgia Pro Light"/>
                <a:sym typeface="Georgia Pro Light"/>
              </a:rPr>
              <a:t>Port Scanner Purpose</a:t>
            </a:r>
          </a:p>
        </p:txBody>
      </p:sp>
      <p:sp>
        <p:nvSpPr>
          <p:cNvPr id="3" name="TextBox 3"/>
          <p:cNvSpPr txBox="1"/>
          <p:nvPr/>
        </p:nvSpPr>
        <p:spPr>
          <a:xfrm>
            <a:off x="9296400" y="2409825"/>
            <a:ext cx="7191375" cy="1108710"/>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A port scanner is a crucial tool in cybersecurity, designed to probe a target system for open network ports, revealing potential vulnerabilities and active services running.</a:t>
            </a:r>
          </a:p>
        </p:txBody>
      </p:sp>
      <p:sp>
        <p:nvSpPr>
          <p:cNvPr id="4" name="TextBox 4"/>
          <p:cNvSpPr txBox="1"/>
          <p:nvPr/>
        </p:nvSpPr>
        <p:spPr>
          <a:xfrm>
            <a:off x="9296400" y="1514475"/>
            <a:ext cx="7191375" cy="438785"/>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DEFINITION</a:t>
            </a:r>
          </a:p>
        </p:txBody>
      </p:sp>
      <p:sp>
        <p:nvSpPr>
          <p:cNvPr id="5" name="TextBox 5"/>
          <p:cNvSpPr txBox="1"/>
          <p:nvPr/>
        </p:nvSpPr>
        <p:spPr>
          <a:xfrm>
            <a:off x="9296400" y="5095875"/>
            <a:ext cx="7191375" cy="148018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Common use cases for port scanners include network inventory management, security assessments, and penetration testing, enabling professionals to identify unauthorized access points and assess system security.</a:t>
            </a:r>
          </a:p>
        </p:txBody>
      </p:sp>
      <p:sp>
        <p:nvSpPr>
          <p:cNvPr id="6" name="TextBox 6"/>
          <p:cNvSpPr txBox="1"/>
          <p:nvPr/>
        </p:nvSpPr>
        <p:spPr>
          <a:xfrm>
            <a:off x="9296400" y="4200525"/>
            <a:ext cx="7191375" cy="438785"/>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USE CASES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8324850" cy="4490031"/>
            <a:chOff x="0" y="0"/>
            <a:chExt cx="11099800" cy="5986708"/>
          </a:xfrm>
        </p:grpSpPr>
        <p:sp>
          <p:nvSpPr>
            <p:cNvPr id="5" name="TextBox 5"/>
            <p:cNvSpPr txBox="1"/>
            <p:nvPr/>
          </p:nvSpPr>
          <p:spPr>
            <a:xfrm>
              <a:off x="0" y="66675"/>
              <a:ext cx="11099800" cy="3040596"/>
            </a:xfrm>
            <a:prstGeom prst="rect">
              <a:avLst/>
            </a:prstGeom>
          </p:spPr>
          <p:txBody>
            <a:bodyPr lIns="0" tIns="0" rIns="0" bIns="0" rtlCol="0" anchor="t">
              <a:spAutoFit/>
            </a:bodyPr>
            <a:lstStyle/>
            <a:p>
              <a:pPr marL="0" lvl="0" indent="0" algn="l">
                <a:lnSpc>
                  <a:spcPts val="8800"/>
                </a:lnSpc>
              </a:pPr>
              <a:r>
                <a:rPr lang="en-US" sz="8000">
                  <a:solidFill>
                    <a:srgbClr val="FFFFFF"/>
                  </a:solidFill>
                  <a:latin typeface="Georgia Pro Light"/>
                  <a:ea typeface="Georgia Pro Light"/>
                  <a:cs typeface="Georgia Pro Light"/>
                  <a:sym typeface="Georgia Pro Light"/>
                </a:rPr>
                <a:t>How Port Scanners Work</a:t>
              </a:r>
            </a:p>
          </p:txBody>
        </p:sp>
        <p:sp>
          <p:nvSpPr>
            <p:cNvPr id="6" name="TextBox 6"/>
            <p:cNvSpPr txBox="1"/>
            <p:nvPr/>
          </p:nvSpPr>
          <p:spPr>
            <a:xfrm>
              <a:off x="0" y="3533703"/>
              <a:ext cx="11099800" cy="24530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A port scanner works by sending a series of connection requests to a range of network ports on a target device and analyzing the responses. Based on whether the device sends back a confirmation, an error, or nothing at all, the scanner identifies if the port is open (active), closed, or filtered by a firewall.</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6750" y="733425"/>
            <a:ext cx="15821025" cy="2263778"/>
          </a:xfrm>
          <a:prstGeom prst="rect">
            <a:avLst/>
          </a:prstGeom>
        </p:spPr>
        <p:txBody>
          <a:bodyPr lIns="0" tIns="0" rIns="0" bIns="0" rtlCol="0" anchor="t">
            <a:spAutoFit/>
          </a:bodyPr>
          <a:lstStyle/>
          <a:p>
            <a:pPr marL="0" lvl="0" indent="0" algn="l">
              <a:lnSpc>
                <a:spcPts val="8800"/>
              </a:lnSpc>
              <a:spcBef>
                <a:spcPct val="0"/>
              </a:spcBef>
            </a:pPr>
            <a:r>
              <a:rPr lang="en-US" sz="8000">
                <a:solidFill>
                  <a:srgbClr val="FFFFFF"/>
                </a:solidFill>
                <a:latin typeface="Georgia Pro Light"/>
                <a:ea typeface="Georgia Pro Light"/>
                <a:cs typeface="Georgia Pro Light"/>
                <a:sym typeface="Georgia Pro Light"/>
              </a:rPr>
              <a:t>Scanning Methods and Parameters Explained</a:t>
            </a:r>
          </a:p>
        </p:txBody>
      </p:sp>
      <p:grpSp>
        <p:nvGrpSpPr>
          <p:cNvPr id="3" name="Group 3"/>
          <p:cNvGrpSpPr/>
          <p:nvPr/>
        </p:nvGrpSpPr>
        <p:grpSpPr>
          <a:xfrm>
            <a:off x="666750" y="4248150"/>
            <a:ext cx="4314825" cy="2663426"/>
            <a:chOff x="0" y="0"/>
            <a:chExt cx="5753100" cy="3551235"/>
          </a:xfrm>
        </p:grpSpPr>
        <p:sp>
          <p:nvSpPr>
            <p:cNvPr id="4" name="TextBox 4"/>
            <p:cNvSpPr txBox="1"/>
            <p:nvPr/>
          </p:nvSpPr>
          <p:spPr>
            <a:xfrm>
              <a:off x="0" y="1146175"/>
              <a:ext cx="5753100" cy="2405060"/>
            </a:xfrm>
            <a:prstGeom prst="rect">
              <a:avLst/>
            </a:prstGeom>
          </p:spPr>
          <p:txBody>
            <a:bodyPr lIns="0" tIns="0" rIns="0" bIns="0" rtlCol="0" anchor="t">
              <a:spAutoFit/>
            </a:bodyPr>
            <a:lstStyle/>
            <a:p>
              <a:pPr marL="0" lvl="0" indent="0" algn="l">
                <a:lnSpc>
                  <a:spcPts val="2939"/>
                </a:lnSpc>
              </a:pPr>
              <a:r>
                <a:rPr lang="en-US" sz="2099">
                  <a:solidFill>
                    <a:srgbClr val="FFFFFF"/>
                  </a:solidFill>
                  <a:latin typeface="DM Sans"/>
                  <a:ea typeface="DM Sans"/>
                  <a:cs typeface="DM Sans"/>
                  <a:sym typeface="DM Sans"/>
                </a:rPr>
                <a:t>A TCP connect scan establishes a full connection to open ports, providing a reliable method for identifying services running on a target system.</a:t>
              </a:r>
            </a:p>
          </p:txBody>
        </p:sp>
        <p:sp>
          <p:nvSpPr>
            <p:cNvPr id="5" name="TextBox 5"/>
            <p:cNvSpPr txBox="1"/>
            <p:nvPr/>
          </p:nvSpPr>
          <p:spPr>
            <a:xfrm>
              <a:off x="0" y="-47625"/>
              <a:ext cx="57531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TCP CONNECT SCAN</a:t>
              </a:r>
            </a:p>
          </p:txBody>
        </p:sp>
      </p:grpSp>
      <p:grpSp>
        <p:nvGrpSpPr>
          <p:cNvPr id="6" name="Group 6"/>
          <p:cNvGrpSpPr/>
          <p:nvPr/>
        </p:nvGrpSpPr>
        <p:grpSpPr>
          <a:xfrm>
            <a:off x="6419850" y="4248150"/>
            <a:ext cx="4314825" cy="2663426"/>
            <a:chOff x="0" y="0"/>
            <a:chExt cx="5753100" cy="3551235"/>
          </a:xfrm>
        </p:grpSpPr>
        <p:sp>
          <p:nvSpPr>
            <p:cNvPr id="7" name="TextBox 7"/>
            <p:cNvSpPr txBox="1"/>
            <p:nvPr/>
          </p:nvSpPr>
          <p:spPr>
            <a:xfrm>
              <a:off x="0" y="1146175"/>
              <a:ext cx="5753100" cy="2405060"/>
            </a:xfrm>
            <a:prstGeom prst="rect">
              <a:avLst/>
            </a:prstGeom>
          </p:spPr>
          <p:txBody>
            <a:bodyPr lIns="0" tIns="0" rIns="0" bIns="0" rtlCol="0" anchor="t">
              <a:spAutoFit/>
            </a:bodyPr>
            <a:lstStyle/>
            <a:p>
              <a:pPr marL="0" lvl="0" indent="0" algn="l">
                <a:lnSpc>
                  <a:spcPts val="2939"/>
                </a:lnSpc>
              </a:pPr>
              <a:r>
                <a:rPr lang="en-US" sz="2099">
                  <a:solidFill>
                    <a:srgbClr val="FFFFFF"/>
                  </a:solidFill>
                  <a:latin typeface="DM Sans"/>
                  <a:ea typeface="DM Sans"/>
                  <a:cs typeface="DM Sans"/>
                  <a:sym typeface="DM Sans"/>
                </a:rPr>
                <a:t>SYN scanning sends SYN packets to ports, determining their state without completing the handshake, making it a stealthier and faster approach to identify open ports.</a:t>
              </a:r>
            </a:p>
          </p:txBody>
        </p:sp>
        <p:sp>
          <p:nvSpPr>
            <p:cNvPr id="8" name="TextBox 8"/>
            <p:cNvSpPr txBox="1"/>
            <p:nvPr/>
          </p:nvSpPr>
          <p:spPr>
            <a:xfrm>
              <a:off x="0" y="-47625"/>
              <a:ext cx="57531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SYN SCAN</a:t>
              </a:r>
            </a:p>
          </p:txBody>
        </p:sp>
      </p:grpSp>
      <p:grpSp>
        <p:nvGrpSpPr>
          <p:cNvPr id="9" name="Group 9"/>
          <p:cNvGrpSpPr/>
          <p:nvPr/>
        </p:nvGrpSpPr>
        <p:grpSpPr>
          <a:xfrm>
            <a:off x="12172950" y="4248150"/>
            <a:ext cx="4314825" cy="3027709"/>
            <a:chOff x="0" y="0"/>
            <a:chExt cx="5753100" cy="4036945"/>
          </a:xfrm>
        </p:grpSpPr>
        <p:sp>
          <p:nvSpPr>
            <p:cNvPr id="10" name="TextBox 10"/>
            <p:cNvSpPr txBox="1"/>
            <p:nvPr/>
          </p:nvSpPr>
          <p:spPr>
            <a:xfrm>
              <a:off x="0" y="1146175"/>
              <a:ext cx="5753100" cy="2890770"/>
            </a:xfrm>
            <a:prstGeom prst="rect">
              <a:avLst/>
            </a:prstGeom>
          </p:spPr>
          <p:txBody>
            <a:bodyPr lIns="0" tIns="0" rIns="0" bIns="0" rtlCol="0" anchor="t">
              <a:spAutoFit/>
            </a:bodyPr>
            <a:lstStyle/>
            <a:p>
              <a:pPr marL="0" lvl="0" indent="0" algn="l">
                <a:lnSpc>
                  <a:spcPts val="2939"/>
                </a:lnSpc>
              </a:pPr>
              <a:r>
                <a:rPr lang="en-US" sz="2099">
                  <a:solidFill>
                    <a:srgbClr val="FFFFFF"/>
                  </a:solidFill>
                  <a:latin typeface="DM Sans"/>
                  <a:ea typeface="DM Sans"/>
                  <a:cs typeface="DM Sans"/>
                  <a:sym typeface="DM Sans"/>
                </a:rPr>
                <a:t>Scanning parameters, such as port ranges and timeout settings, influence the effectiveness and speed of scans, allowing users to customize the scanning process based on their needs.</a:t>
              </a:r>
            </a:p>
          </p:txBody>
        </p:sp>
        <p:sp>
          <p:nvSpPr>
            <p:cNvPr id="11" name="TextBox 11"/>
            <p:cNvSpPr txBox="1"/>
            <p:nvPr/>
          </p:nvSpPr>
          <p:spPr>
            <a:xfrm>
              <a:off x="0" y="-47625"/>
              <a:ext cx="57531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SCANNING PARAMETERS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8324850" cy="7090356"/>
            <a:chOff x="0" y="0"/>
            <a:chExt cx="11099800" cy="9453808"/>
          </a:xfrm>
        </p:grpSpPr>
        <p:sp>
          <p:nvSpPr>
            <p:cNvPr id="5" name="TextBox 5"/>
            <p:cNvSpPr txBox="1"/>
            <p:nvPr/>
          </p:nvSpPr>
          <p:spPr>
            <a:xfrm>
              <a:off x="0" y="66675"/>
              <a:ext cx="11099800" cy="4526496"/>
            </a:xfrm>
            <a:prstGeom prst="rect">
              <a:avLst/>
            </a:prstGeom>
          </p:spPr>
          <p:txBody>
            <a:bodyPr lIns="0" tIns="0" rIns="0" bIns="0" rtlCol="0" anchor="t">
              <a:spAutoFit/>
            </a:bodyPr>
            <a:lstStyle/>
            <a:p>
              <a:pPr marL="0" lvl="0" indent="0" algn="l">
                <a:lnSpc>
                  <a:spcPts val="8800"/>
                </a:lnSpc>
              </a:pPr>
              <a:r>
                <a:rPr lang="en-US" sz="8000">
                  <a:solidFill>
                    <a:srgbClr val="FFFFFF"/>
                  </a:solidFill>
                  <a:latin typeface="Georgia Pro Light"/>
                  <a:ea typeface="Georgia Pro Light"/>
                  <a:cs typeface="Georgia Pro Light"/>
                  <a:sym typeface="Georgia Pro Light"/>
                </a:rPr>
                <a:t>Role of Port Scanners in Cyber Security </a:t>
              </a:r>
            </a:p>
          </p:txBody>
        </p:sp>
        <p:sp>
          <p:nvSpPr>
            <p:cNvPr id="6" name="TextBox 6"/>
            <p:cNvSpPr txBox="1"/>
            <p:nvPr/>
          </p:nvSpPr>
          <p:spPr>
            <a:xfrm>
              <a:off x="0" y="5019603"/>
              <a:ext cx="11099800" cy="44342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In cybersecurity, port scanning serves as the critical reconnaissance phase where both defenders and attackers map the attack surface of a network. For security professionals, it is a vital defensive tool used to discover "shadow IT," verify that firewalls are correctly filtering traffic, and close unnecessary open ports to harden the system. Conversely, attackers use it to identify active services and their specific software versions, allowing them to pinpoint known vulnerabilities and select the most effective exploit to gain unauthorized access.</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6750" y="733425"/>
            <a:ext cx="5753100" cy="4492628"/>
          </a:xfrm>
          <a:prstGeom prst="rect">
            <a:avLst/>
          </a:prstGeom>
        </p:spPr>
        <p:txBody>
          <a:bodyPr lIns="0" tIns="0" rIns="0" bIns="0" rtlCol="0" anchor="t">
            <a:spAutoFit/>
          </a:bodyPr>
          <a:lstStyle/>
          <a:p>
            <a:pPr marL="0" lvl="0" indent="0" algn="l">
              <a:lnSpc>
                <a:spcPts val="8800"/>
              </a:lnSpc>
              <a:spcBef>
                <a:spcPct val="0"/>
              </a:spcBef>
            </a:pPr>
            <a:r>
              <a:rPr lang="en-US" sz="8000">
                <a:solidFill>
                  <a:srgbClr val="FFFFFF"/>
                </a:solidFill>
                <a:latin typeface="Georgia Pro Light"/>
                <a:ea typeface="Georgia Pro Light"/>
                <a:cs typeface="Georgia Pro Light"/>
                <a:sym typeface="Georgia Pro Light"/>
              </a:rPr>
              <a:t>Security Auditing &amp; Penetration Testing</a:t>
            </a:r>
          </a:p>
        </p:txBody>
      </p:sp>
      <p:sp>
        <p:nvSpPr>
          <p:cNvPr id="3" name="TextBox 3"/>
          <p:cNvSpPr txBox="1"/>
          <p:nvPr/>
        </p:nvSpPr>
        <p:spPr>
          <a:xfrm>
            <a:off x="9296400" y="2409825"/>
            <a:ext cx="7191375" cy="1442752"/>
          </a:xfrm>
          <a:prstGeom prst="rect">
            <a:avLst/>
          </a:prstGeom>
        </p:spPr>
        <p:txBody>
          <a:bodyPr lIns="0" tIns="0" rIns="0" bIns="0" rtlCol="0" anchor="t">
            <a:spAutoFit/>
          </a:bodyPr>
          <a:lstStyle/>
          <a:p>
            <a:pPr marL="0" lvl="0" indent="0" algn="l">
              <a:lnSpc>
                <a:spcPts val="2903"/>
              </a:lnSpc>
            </a:pPr>
            <a:r>
              <a:rPr lang="en-US" sz="2073">
                <a:solidFill>
                  <a:srgbClr val="FFFFFF"/>
                </a:solidFill>
                <a:latin typeface="DM Sans"/>
                <a:ea typeface="DM Sans"/>
                <a:cs typeface="DM Sans"/>
                <a:sym typeface="DM Sans"/>
              </a:rPr>
              <a:t>Identifying </a:t>
            </a:r>
            <a:r>
              <a:rPr lang="en-US" sz="2073" b="1">
                <a:solidFill>
                  <a:srgbClr val="FFFFFF"/>
                </a:solidFill>
                <a:latin typeface="DM Sans Bold"/>
                <a:ea typeface="DM Sans Bold"/>
                <a:cs typeface="DM Sans Bold"/>
                <a:sym typeface="DM Sans Bold"/>
              </a:rPr>
              <a:t>unauthorized open ports</a:t>
            </a:r>
            <a:r>
              <a:rPr lang="en-US" sz="2073">
                <a:solidFill>
                  <a:srgbClr val="FFFFFF"/>
                </a:solidFill>
                <a:latin typeface="DM Sans"/>
                <a:ea typeface="DM Sans"/>
                <a:cs typeface="DM Sans"/>
                <a:sym typeface="DM Sans"/>
              </a:rPr>
              <a:t> is crucial for maintaining network integrity. Port scanners help organizations detect vulnerabilities by revealing entry points that could be exploited by malicious actors.</a:t>
            </a:r>
          </a:p>
        </p:txBody>
      </p:sp>
      <p:sp>
        <p:nvSpPr>
          <p:cNvPr id="4" name="TextBox 4"/>
          <p:cNvSpPr txBox="1"/>
          <p:nvPr/>
        </p:nvSpPr>
        <p:spPr>
          <a:xfrm>
            <a:off x="9296400" y="1514475"/>
            <a:ext cx="7191375" cy="438785"/>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UNAUTHORIZED OPEN PORTS</a:t>
            </a:r>
          </a:p>
        </p:txBody>
      </p:sp>
      <p:sp>
        <p:nvSpPr>
          <p:cNvPr id="5" name="TextBox 5"/>
          <p:cNvSpPr txBox="1"/>
          <p:nvPr/>
        </p:nvSpPr>
        <p:spPr>
          <a:xfrm>
            <a:off x="9296400" y="5095875"/>
            <a:ext cx="7191375" cy="1442752"/>
          </a:xfrm>
          <a:prstGeom prst="rect">
            <a:avLst/>
          </a:prstGeom>
        </p:spPr>
        <p:txBody>
          <a:bodyPr lIns="0" tIns="0" rIns="0" bIns="0" rtlCol="0" anchor="t">
            <a:spAutoFit/>
          </a:bodyPr>
          <a:lstStyle/>
          <a:p>
            <a:pPr marL="0" lvl="0" indent="0" algn="l">
              <a:lnSpc>
                <a:spcPts val="2903"/>
              </a:lnSpc>
            </a:pPr>
            <a:r>
              <a:rPr lang="en-US" sz="2073">
                <a:solidFill>
                  <a:srgbClr val="FFFFFF"/>
                </a:solidFill>
                <a:latin typeface="DM Sans"/>
                <a:ea typeface="DM Sans"/>
                <a:cs typeface="DM Sans"/>
                <a:sym typeface="DM Sans"/>
              </a:rPr>
              <a:t>Effective penetration testing involves </a:t>
            </a:r>
            <a:r>
              <a:rPr lang="en-US" sz="2073" b="1">
                <a:solidFill>
                  <a:srgbClr val="FFFFFF"/>
                </a:solidFill>
                <a:latin typeface="DM Sans Bold"/>
                <a:ea typeface="DM Sans Bold"/>
                <a:cs typeface="DM Sans Bold"/>
                <a:sym typeface="DM Sans Bold"/>
              </a:rPr>
              <a:t>discovering attack surfaces</a:t>
            </a:r>
            <a:r>
              <a:rPr lang="en-US" sz="2073">
                <a:solidFill>
                  <a:srgbClr val="FFFFFF"/>
                </a:solidFill>
                <a:latin typeface="DM Sans"/>
                <a:ea typeface="DM Sans"/>
                <a:cs typeface="DM Sans"/>
                <a:sym typeface="DM Sans"/>
              </a:rPr>
              <a:t> within a network. Port scanning is essential for evaluating potential weaknesses and enhancing the overall security posture of an organization.</a:t>
            </a:r>
          </a:p>
        </p:txBody>
      </p:sp>
      <p:sp>
        <p:nvSpPr>
          <p:cNvPr id="6" name="TextBox 6"/>
          <p:cNvSpPr txBox="1"/>
          <p:nvPr/>
        </p:nvSpPr>
        <p:spPr>
          <a:xfrm>
            <a:off x="9296400" y="4200525"/>
            <a:ext cx="7191375" cy="438785"/>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DISCOVERING ATTACK SURFACES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8324850" cy="4118556"/>
            <a:chOff x="0" y="0"/>
            <a:chExt cx="11099800" cy="5491408"/>
          </a:xfrm>
        </p:grpSpPr>
        <p:sp>
          <p:nvSpPr>
            <p:cNvPr id="5" name="TextBox 5"/>
            <p:cNvSpPr txBox="1"/>
            <p:nvPr/>
          </p:nvSpPr>
          <p:spPr>
            <a:xfrm>
              <a:off x="0" y="66675"/>
              <a:ext cx="11099800" cy="3040596"/>
            </a:xfrm>
            <a:prstGeom prst="rect">
              <a:avLst/>
            </a:prstGeom>
          </p:spPr>
          <p:txBody>
            <a:bodyPr lIns="0" tIns="0" rIns="0" bIns="0" rtlCol="0" anchor="t">
              <a:spAutoFit/>
            </a:bodyPr>
            <a:lstStyle/>
            <a:p>
              <a:pPr marL="0" lvl="0" indent="0" algn="l">
                <a:lnSpc>
                  <a:spcPts val="8800"/>
                </a:lnSpc>
              </a:pPr>
              <a:r>
                <a:rPr lang="en-US" sz="8000">
                  <a:solidFill>
                    <a:srgbClr val="FFFFFF"/>
                  </a:solidFill>
                  <a:latin typeface="Georgia Pro Light"/>
                  <a:ea typeface="Georgia Pro Light"/>
                  <a:cs typeface="Georgia Pro Light"/>
                  <a:sym typeface="Georgia Pro Light"/>
                </a:rPr>
                <a:t>Python Port Scanner</a:t>
              </a:r>
            </a:p>
          </p:txBody>
        </p:sp>
        <p:sp>
          <p:nvSpPr>
            <p:cNvPr id="6" name="TextBox 6"/>
            <p:cNvSpPr txBox="1"/>
            <p:nvPr/>
          </p:nvSpPr>
          <p:spPr>
            <a:xfrm>
              <a:off x="0" y="3533703"/>
              <a:ext cx="11099800" cy="19577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This section provides a </a:t>
              </a:r>
              <a:r>
                <a:rPr lang="en-US" sz="2100" b="1">
                  <a:solidFill>
                    <a:srgbClr val="FFFFFF"/>
                  </a:solidFill>
                  <a:latin typeface="DM Sans Bold"/>
                  <a:ea typeface="DM Sans Bold"/>
                  <a:cs typeface="DM Sans Bold"/>
                  <a:sym typeface="DM Sans Bold"/>
                </a:rPr>
                <a:t>walkthrough of a simple multi-threaded TCP port scanner</a:t>
              </a:r>
              <a:r>
                <a:rPr lang="en-US" sz="2100">
                  <a:solidFill>
                    <a:srgbClr val="FFFFFF"/>
                  </a:solidFill>
                  <a:latin typeface="DM Sans"/>
                  <a:ea typeface="DM Sans"/>
                  <a:cs typeface="DM Sans"/>
                  <a:sym typeface="DM Sans"/>
                </a:rPr>
                <a:t> implemented in Python, showcasing its core features, functionality, and purpose in network security assessments.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6750" y="733425"/>
            <a:ext cx="5753100" cy="2263778"/>
          </a:xfrm>
          <a:prstGeom prst="rect">
            <a:avLst/>
          </a:prstGeom>
        </p:spPr>
        <p:txBody>
          <a:bodyPr lIns="0" tIns="0" rIns="0" bIns="0" rtlCol="0" anchor="t">
            <a:spAutoFit/>
          </a:bodyPr>
          <a:lstStyle/>
          <a:p>
            <a:pPr marL="0" lvl="0" indent="0" algn="l">
              <a:lnSpc>
                <a:spcPts val="8800"/>
              </a:lnSpc>
              <a:spcBef>
                <a:spcPct val="0"/>
              </a:spcBef>
            </a:pPr>
            <a:r>
              <a:rPr lang="en-US" sz="8000">
                <a:solidFill>
                  <a:srgbClr val="FFFFFF"/>
                </a:solidFill>
                <a:latin typeface="Georgia Pro Light"/>
                <a:ea typeface="Georgia Pro Light"/>
                <a:cs typeface="Georgia Pro Light"/>
                <a:sym typeface="Georgia Pro Light"/>
              </a:rPr>
              <a:t>Python Code Overview</a:t>
            </a:r>
          </a:p>
        </p:txBody>
      </p:sp>
      <p:sp>
        <p:nvSpPr>
          <p:cNvPr id="3" name="TextBox 3"/>
          <p:cNvSpPr txBox="1"/>
          <p:nvPr/>
        </p:nvSpPr>
        <p:spPr>
          <a:xfrm>
            <a:off x="9296400" y="2409825"/>
            <a:ext cx="7191375" cy="1442752"/>
          </a:xfrm>
          <a:prstGeom prst="rect">
            <a:avLst/>
          </a:prstGeom>
        </p:spPr>
        <p:txBody>
          <a:bodyPr lIns="0" tIns="0" rIns="0" bIns="0" rtlCol="0" anchor="t">
            <a:spAutoFit/>
          </a:bodyPr>
          <a:lstStyle/>
          <a:p>
            <a:pPr marL="0" lvl="0" indent="0" algn="l">
              <a:lnSpc>
                <a:spcPts val="2903"/>
              </a:lnSpc>
            </a:pPr>
            <a:r>
              <a:rPr lang="en-US" sz="2073">
                <a:solidFill>
                  <a:srgbClr val="FFFFFF"/>
                </a:solidFill>
                <a:latin typeface="DM Sans"/>
                <a:ea typeface="DM Sans"/>
                <a:cs typeface="DM Sans"/>
                <a:sym typeface="DM Sans"/>
              </a:rPr>
              <a:t>The code utilizes Python's socket library to create a connection, enabling communication with specified ports on the target IP address, facilitating effective port scanning operations.</a:t>
            </a:r>
          </a:p>
        </p:txBody>
      </p:sp>
      <p:sp>
        <p:nvSpPr>
          <p:cNvPr id="4" name="TextBox 4"/>
          <p:cNvSpPr txBox="1"/>
          <p:nvPr/>
        </p:nvSpPr>
        <p:spPr>
          <a:xfrm>
            <a:off x="9296400" y="1514475"/>
            <a:ext cx="7191375" cy="438785"/>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SOCKET USAGE</a:t>
            </a:r>
          </a:p>
        </p:txBody>
      </p:sp>
      <p:sp>
        <p:nvSpPr>
          <p:cNvPr id="5" name="TextBox 5"/>
          <p:cNvSpPr txBox="1"/>
          <p:nvPr/>
        </p:nvSpPr>
        <p:spPr>
          <a:xfrm>
            <a:off x="9296400" y="5095875"/>
            <a:ext cx="7191375" cy="1442752"/>
          </a:xfrm>
          <a:prstGeom prst="rect">
            <a:avLst/>
          </a:prstGeom>
        </p:spPr>
        <p:txBody>
          <a:bodyPr lIns="0" tIns="0" rIns="0" bIns="0" rtlCol="0" anchor="t">
            <a:spAutoFit/>
          </a:bodyPr>
          <a:lstStyle/>
          <a:p>
            <a:pPr marL="0" lvl="0" indent="0" algn="l">
              <a:lnSpc>
                <a:spcPts val="2903"/>
              </a:lnSpc>
            </a:pPr>
            <a:r>
              <a:rPr lang="en-US" sz="2073">
                <a:solidFill>
                  <a:srgbClr val="FFFFFF"/>
                </a:solidFill>
                <a:latin typeface="DM Sans"/>
                <a:ea typeface="DM Sans"/>
                <a:cs typeface="DM Sans"/>
                <a:sym typeface="DM Sans"/>
              </a:rPr>
              <a:t>Multi-threading is implemented to enhance performance, allowing multiple ports to be scanned simultaneously, significantly reducing the overall time taken to identify open ports on the target system.</a:t>
            </a:r>
          </a:p>
        </p:txBody>
      </p:sp>
      <p:sp>
        <p:nvSpPr>
          <p:cNvPr id="6" name="TextBox 6"/>
          <p:cNvSpPr txBox="1"/>
          <p:nvPr/>
        </p:nvSpPr>
        <p:spPr>
          <a:xfrm>
            <a:off x="9296400" y="4200525"/>
            <a:ext cx="7191375" cy="438785"/>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THREADING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6750" y="723900"/>
            <a:ext cx="5753100" cy="2975610"/>
          </a:xfrm>
          <a:prstGeom prst="rect">
            <a:avLst/>
          </a:prstGeom>
        </p:spPr>
        <p:txBody>
          <a:bodyPr lIns="0" tIns="0" rIns="0" bIns="0" rtlCol="0" anchor="t">
            <a:spAutoFit/>
          </a:bodyPr>
          <a:lstStyle/>
          <a:p>
            <a:pPr marL="0" lvl="0" indent="0" algn="l">
              <a:lnSpc>
                <a:spcPts val="7755"/>
              </a:lnSpc>
              <a:spcBef>
                <a:spcPct val="0"/>
              </a:spcBef>
            </a:pPr>
            <a:r>
              <a:rPr lang="en-US" sz="7050">
                <a:solidFill>
                  <a:srgbClr val="FFFFFF"/>
                </a:solidFill>
                <a:latin typeface="Georgia Pro Light"/>
                <a:ea typeface="Georgia Pro Light"/>
                <a:cs typeface="Georgia Pro Light"/>
                <a:sym typeface="Georgia Pro Light"/>
              </a:rPr>
              <a:t>Ethical Hacking Considerations</a:t>
            </a:r>
          </a:p>
        </p:txBody>
      </p:sp>
      <p:sp>
        <p:nvSpPr>
          <p:cNvPr id="3" name="TextBox 3"/>
          <p:cNvSpPr txBox="1"/>
          <p:nvPr/>
        </p:nvSpPr>
        <p:spPr>
          <a:xfrm>
            <a:off x="9296400" y="2409825"/>
            <a:ext cx="7191375" cy="1442752"/>
          </a:xfrm>
          <a:prstGeom prst="rect">
            <a:avLst/>
          </a:prstGeom>
        </p:spPr>
        <p:txBody>
          <a:bodyPr lIns="0" tIns="0" rIns="0" bIns="0" rtlCol="0" anchor="t">
            <a:spAutoFit/>
          </a:bodyPr>
          <a:lstStyle/>
          <a:p>
            <a:pPr marL="0" lvl="0" indent="0" algn="l">
              <a:lnSpc>
                <a:spcPts val="2903"/>
              </a:lnSpc>
            </a:pPr>
            <a:r>
              <a:rPr lang="en-US" sz="2073">
                <a:solidFill>
                  <a:srgbClr val="FFFFFF"/>
                </a:solidFill>
                <a:latin typeface="DM Sans"/>
                <a:ea typeface="DM Sans"/>
                <a:cs typeface="DM Sans"/>
                <a:sym typeface="DM Sans"/>
              </a:rPr>
              <a:t>Ethical hackers must operate within legal boundaries, ensuring that their scanning and testing methods are authorized. This fosters trust and highlights the importance of professional integrity in cybersecurity.</a:t>
            </a:r>
          </a:p>
        </p:txBody>
      </p:sp>
      <p:sp>
        <p:nvSpPr>
          <p:cNvPr id="4" name="TextBox 4"/>
          <p:cNvSpPr txBox="1"/>
          <p:nvPr/>
        </p:nvSpPr>
        <p:spPr>
          <a:xfrm>
            <a:off x="9296400" y="1514475"/>
            <a:ext cx="7191375" cy="438785"/>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RESPONSIBLE PRACTICES</a:t>
            </a:r>
          </a:p>
        </p:txBody>
      </p:sp>
      <p:sp>
        <p:nvSpPr>
          <p:cNvPr id="5" name="TextBox 5"/>
          <p:cNvSpPr txBox="1"/>
          <p:nvPr/>
        </p:nvSpPr>
        <p:spPr>
          <a:xfrm>
            <a:off x="9296400" y="5095875"/>
            <a:ext cx="7191375" cy="1442752"/>
          </a:xfrm>
          <a:prstGeom prst="rect">
            <a:avLst/>
          </a:prstGeom>
        </p:spPr>
        <p:txBody>
          <a:bodyPr lIns="0" tIns="0" rIns="0" bIns="0" rtlCol="0" anchor="t">
            <a:spAutoFit/>
          </a:bodyPr>
          <a:lstStyle/>
          <a:p>
            <a:pPr marL="0" lvl="0" indent="0" algn="l">
              <a:lnSpc>
                <a:spcPts val="2903"/>
              </a:lnSpc>
            </a:pPr>
            <a:r>
              <a:rPr lang="en-US" sz="2073">
                <a:solidFill>
                  <a:srgbClr val="FFFFFF"/>
                </a:solidFill>
                <a:latin typeface="DM Sans"/>
                <a:ea typeface="DM Sans"/>
                <a:cs typeface="DM Sans"/>
                <a:sym typeface="DM Sans"/>
              </a:rPr>
              <a:t>With advancements in AI and machine learning, future port scanners can automate vulnerability assessments. These innovations will enhance accuracy and efficiency, making cybersecurity practices more robust and proactive.</a:t>
            </a:r>
          </a:p>
        </p:txBody>
      </p:sp>
      <p:sp>
        <p:nvSpPr>
          <p:cNvPr id="6" name="TextBox 6"/>
          <p:cNvSpPr txBox="1"/>
          <p:nvPr/>
        </p:nvSpPr>
        <p:spPr>
          <a:xfrm>
            <a:off x="9296400" y="4200525"/>
            <a:ext cx="7191375" cy="438785"/>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FUTURE ENHANCEMENTS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8324850" cy="4118556"/>
            <a:chOff x="0" y="0"/>
            <a:chExt cx="11099800" cy="5491408"/>
          </a:xfrm>
        </p:grpSpPr>
        <p:sp>
          <p:nvSpPr>
            <p:cNvPr id="5" name="TextBox 5"/>
            <p:cNvSpPr txBox="1"/>
            <p:nvPr/>
          </p:nvSpPr>
          <p:spPr>
            <a:xfrm>
              <a:off x="0" y="66675"/>
              <a:ext cx="11099800" cy="3040596"/>
            </a:xfrm>
            <a:prstGeom prst="rect">
              <a:avLst/>
            </a:prstGeom>
          </p:spPr>
          <p:txBody>
            <a:bodyPr lIns="0" tIns="0" rIns="0" bIns="0" rtlCol="0" anchor="t">
              <a:spAutoFit/>
            </a:bodyPr>
            <a:lstStyle/>
            <a:p>
              <a:pPr marL="0" lvl="0" indent="0" algn="l">
                <a:lnSpc>
                  <a:spcPts val="8800"/>
                </a:lnSpc>
              </a:pPr>
              <a:r>
                <a:rPr lang="en-US" sz="8000">
                  <a:solidFill>
                    <a:srgbClr val="FFFFFF"/>
                  </a:solidFill>
                  <a:latin typeface="Georgia Pro Light"/>
                  <a:ea typeface="Georgia Pro Light"/>
                  <a:cs typeface="Georgia Pro Light"/>
                  <a:sym typeface="Georgia Pro Light"/>
                </a:rPr>
                <a:t>Conclusion and Next Steps</a:t>
              </a:r>
            </a:p>
          </p:txBody>
        </p:sp>
        <p:sp>
          <p:nvSpPr>
            <p:cNvPr id="6" name="TextBox 6"/>
            <p:cNvSpPr txBox="1"/>
            <p:nvPr/>
          </p:nvSpPr>
          <p:spPr>
            <a:xfrm>
              <a:off x="0" y="3533703"/>
              <a:ext cx="11099800" cy="19577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Understanding port scanning is essential for </a:t>
              </a:r>
              <a:r>
                <a:rPr lang="en-US" sz="2100" b="1">
                  <a:solidFill>
                    <a:srgbClr val="FFFFFF"/>
                  </a:solidFill>
                  <a:latin typeface="DM Sans Bold"/>
                  <a:ea typeface="DM Sans Bold"/>
                  <a:cs typeface="DM Sans Bold"/>
                  <a:sym typeface="DM Sans Bold"/>
                </a:rPr>
                <a:t>cybersecurity professionals</a:t>
              </a:r>
              <a:r>
                <a:rPr lang="en-US" sz="2100">
                  <a:solidFill>
                    <a:srgbClr val="FFFFFF"/>
                  </a:solidFill>
                  <a:latin typeface="DM Sans"/>
                  <a:ea typeface="DM Sans"/>
                  <a:cs typeface="DM Sans"/>
                  <a:sym typeface="DM Sans"/>
                </a:rPr>
                <a:t>. Emphasizing ethical practices and continuous education can enhance network security and protect against potential vulnerabilities.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sp>
        <p:nvSpPr>
          <p:cNvPr id="4" name="TextBox 4"/>
          <p:cNvSpPr txBox="1"/>
          <p:nvPr/>
        </p:nvSpPr>
        <p:spPr>
          <a:xfrm>
            <a:off x="557622" y="4592955"/>
            <a:ext cx="9763125" cy="1282065"/>
          </a:xfrm>
          <a:prstGeom prst="rect">
            <a:avLst/>
          </a:prstGeom>
        </p:spPr>
        <p:txBody>
          <a:bodyPr lIns="0" tIns="0" rIns="0" bIns="0" rtlCol="0" anchor="t">
            <a:spAutoFit/>
          </a:bodyPr>
          <a:lstStyle/>
          <a:p>
            <a:pPr marL="0" lvl="0" indent="0" algn="ctr">
              <a:lnSpc>
                <a:spcPts val="9600"/>
              </a:lnSpc>
              <a:spcBef>
                <a:spcPct val="0"/>
              </a:spcBef>
            </a:pPr>
            <a:r>
              <a:rPr lang="en-US" sz="9600" u="none" strike="noStrike">
                <a:solidFill>
                  <a:srgbClr val="FFFFFF"/>
                </a:solidFill>
                <a:latin typeface="Georgia Pro Light"/>
                <a:ea typeface="Georgia Pro Light"/>
                <a:cs typeface="Georgia Pro Light"/>
                <a:sym typeface="Georgia Pro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638</Words>
  <Application>Microsoft Office PowerPoint</Application>
  <PresentationFormat>Custom</PresentationFormat>
  <Paragraphs>44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DM Sans</vt:lpstr>
      <vt:lpstr>Calibri</vt:lpstr>
      <vt:lpstr>Georgia Pro Light</vt:lpstr>
      <vt:lpstr>DM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Port Scanners</dc:title>
  <dc:creator>hp</dc:creator>
  <dc:description>Presentation - Port Scanners</dc:description>
  <cp:lastModifiedBy>Windows User</cp:lastModifiedBy>
  <cp:revision>4</cp:revision>
  <dcterms:created xsi:type="dcterms:W3CDTF">2006-08-16T00:00:00Z</dcterms:created>
  <dcterms:modified xsi:type="dcterms:W3CDTF">2026-01-05T04:22:24Z</dcterms:modified>
  <dc:identifier>DAG8uVOAQno</dc:identifier>
</cp:coreProperties>
</file>